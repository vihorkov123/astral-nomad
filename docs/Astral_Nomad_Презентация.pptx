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ПРОЕКТНЫЙ ПРАКТИКУМ 1A · ТРЕК «РАЗРАБОТКА КОММЕРЧЕСКОЙ ИГРЫ ПОД ЯНДЕКС ИГРЫ»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ECEEF4"/>
                </a:solidFill>
                <a:latin typeface="Verdana"/>
              </a:rPr>
              <a:t>ASTRAL</a:t>
            </a:r>
          </a:p>
          <a:p>
            <a:pPr algn="l">
              <a:spcAft>
                <a:spcPts val="400"/>
              </a:spcAft>
            </a:pPr>
            <a:r>
              <a:rPr sz="5600" b="1">
                <a:solidFill>
                  <a:srgbClr val="4FE3C1"/>
                </a:solidFill>
                <a:latin typeface="Verdana"/>
              </a:rPr>
              <a:t>NOMAD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EF4"/>
                </a:solidFill>
                <a:latin typeface="Verdana"/>
              </a:rPr>
              <a:t>Браузерный rogue-lite про выживание после крушения: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EF4"/>
                </a:solidFill>
                <a:latin typeface="Verdana"/>
              </a:rPr>
              <a:t>исследуй сектора, собирай ресурсы, чини капсулу.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Verdana"/>
              </a:rPr>
              <a:t>Команда: ____________________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Куратор: ____________________ · Екатеринбург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02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КТО ДЕЛАЛ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Наша команда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21408" cy="356616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121408" cy="10972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Тимлид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06040"/>
            <a:ext cx="17922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________________
РИ-XXXXXX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20624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FE3C1"/>
                </a:solidFill>
                <a:latin typeface="Verdana"/>
              </a:rPr>
              <a:t>план · темп · приёмка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737360"/>
            <a:ext cx="2121408" cy="356616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1737360"/>
            <a:ext cx="2121408" cy="10972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57400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Гейм-дизайнер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606040"/>
            <a:ext cx="17922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________________
РИ-XXXXXX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20624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FE3C1"/>
                </a:solidFill>
                <a:latin typeface="Verdana"/>
              </a:rPr>
              <a:t>механики · баланс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737360"/>
            <a:ext cx="2121408" cy="356616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1737360"/>
            <a:ext cx="2121408" cy="10972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057400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Аналитик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606040"/>
            <a:ext cx="17922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________________
РИ-XXXXXX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20624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FE3C1"/>
                </a:solidFill>
                <a:latin typeface="Verdana"/>
              </a:rPr>
              <a:t>ЦА · рынок · конкуренты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1737360"/>
            <a:ext cx="2121408" cy="356616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15784" y="1737360"/>
            <a:ext cx="2121408" cy="10972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2057400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Сценарист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2606040"/>
            <a:ext cx="17922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________________
РИ-XXXXXX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6" y="420624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FE3C1"/>
                </a:solidFill>
                <a:latin typeface="Verdana"/>
              </a:rPr>
              <a:t>сюжет · тексты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0072" y="1737360"/>
            <a:ext cx="2121408" cy="356616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0072" y="1737360"/>
            <a:ext cx="2121408" cy="109728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2057400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Разработчик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4664" y="2606040"/>
            <a:ext cx="17922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________________
РИ-XXXXXX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4206240"/>
            <a:ext cx="17922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FE3C1"/>
                </a:solidFill>
                <a:latin typeface="Verdana"/>
              </a:rPr>
              <a:t>код · сборка · тесты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03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ЗАЧЕМ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Проблематика: браузеру не хватает решений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01368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E3C1"/>
                </a:solidFill>
                <a:latin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50008"/>
            <a:ext cx="50840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CEEF4"/>
                </a:solidFill>
                <a:latin typeface="Verdana"/>
              </a:rPr>
              <a:t>Мало хороших игр в жанре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07208"/>
            <a:ext cx="5084064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В браузере почти нет нормальных rogue-lite: в основном кликеры и простые аркады.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Игроки знают жанр по Vampire Survivors и Brotato, но те живут в Steam и требуют установки.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Интересных проектов в нише на платформе мало.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6B5E"/>
                </a:solidFill>
                <a:latin typeface="Verdan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50008"/>
            <a:ext cx="50840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CEEF4"/>
                </a:solidFill>
                <a:latin typeface="Verdana"/>
              </a:rPr>
              <a:t>Свободная ниша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807208"/>
            <a:ext cx="5084064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Лёгкого браузерного rogue-lite с понятным циклом на Яндекс Играх почти нет.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Аудитория платформы растёт, а жанр не занят.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Это и есть наша возможность.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04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АНАЛИТИКА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Яндекс Игры — растущий рынок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4FE3C1"/>
                </a:solidFill>
                <a:latin typeface="Verdana"/>
              </a:rPr>
              <a:t>45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активных игроков в месяц (2024)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7373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965960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6B5E"/>
                </a:solidFill>
                <a:latin typeface="Verdana"/>
              </a:rPr>
              <a:t>+45 %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30175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рост аудитории за год, в 2024 — почти ×2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7373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965960"/>
            <a:ext cx="3611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4FE3C1"/>
                </a:solidFill>
                <a:latin typeface="Verdana"/>
              </a:rPr>
              <a:t>50 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3017520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в день играет средний пользователь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4340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Ядро аудитории — до 24 лет: динамичные сессионные игры с прогрессией.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Тренд — мидкор: глубже кликера, быстрее Steam. Наш формат попадает в обе волны: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4FE3C1"/>
                </a:solidFill>
                <a:latin typeface="Verdana"/>
              </a:rPr>
              <a:t>rogue-lite глубина при загрузке за секунду (вес сборки ≈0,1 МБ).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05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ДЛЯ КОГО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Целевая аудитория и портрет игрока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01368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E3C1"/>
                </a:solidFill>
                <a:latin typeface="Verdana"/>
              </a:rPr>
              <a:t>B2C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50008"/>
            <a:ext cx="50840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CEEF4"/>
                </a:solidFill>
                <a:latin typeface="Verdana"/>
              </a:rPr>
              <a:t>Игрок коротких сессий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07208"/>
            <a:ext cx="5084064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12–25 лет: школьники, студенты, молодые специалисты за ПК.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Знаком с жанром по Vampire Survivors и Brotato, любит «ещё один заход».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Хочет: понятный геймплей, прогресс без обнуления, сессию 5–15 минут.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Не любит: терять весь прогресс при смерти и тратить время впустую.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429768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1097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6B5E"/>
                </a:solidFill>
                <a:latin typeface="Verdana"/>
              </a:rPr>
              <a:t>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50008"/>
            <a:ext cx="50840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CEEF4"/>
                </a:solidFill>
                <a:latin typeface="Verdana"/>
              </a:rPr>
              <a:t>Начинающий разработчик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807208"/>
            <a:ext cx="5084064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Студенты IT-направлений и инди-разработчики.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Ищут рабочий пример полного цикла: от прототипа до публикации на платформе.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Получают: открытый репозиторий с кодом, концептом и автотестами.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06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С КЕМ СРАВНИВАЛИ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Конкурентный анализ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2070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2103120"/>
                <a:gridCol w="2103120"/>
                <a:gridCol w="256032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ECEEF4"/>
                          </a:solidFill>
                          <a:latin typeface="Verdana"/>
                        </a:rPr>
                        <a:t>Критерий</a:t>
                      </a:r>
                    </a:p>
                  </a:txBody>
                  <a:tcPr marL="91440" marT="45720">
                    <a:solidFill>
                      <a:srgbClr val="23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ECEEF4"/>
                          </a:solidFill>
                          <a:latin typeface="Verdana"/>
                        </a:rPr>
                        <a:t>Vampire Survivors</a:t>
                      </a:r>
                    </a:p>
                  </a:txBody>
                  <a:tcPr marL="91440" marT="45720">
                    <a:solidFill>
                      <a:srgbClr val="23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ECEEF4"/>
                          </a:solidFill>
                          <a:latin typeface="Verdana"/>
                        </a:rPr>
                        <a:t>Brotato</a:t>
                      </a:r>
                    </a:p>
                  </a:txBody>
                  <a:tcPr marL="91440" marT="45720">
                    <a:solidFill>
                      <a:srgbClr val="23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ECEEF4"/>
                          </a:solidFill>
                          <a:latin typeface="Verdana"/>
                        </a:rPr>
                        <a:t>Moonlighter</a:t>
                      </a:r>
                    </a:p>
                  </a:txBody>
                  <a:tcPr marL="91440" marT="45720">
                    <a:solidFill>
                      <a:srgbClr val="23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НАШ ПРОЕКТ</a:t>
                      </a:r>
                    </a:p>
                  </a:txBody>
                  <a:tcPr marL="91440" marT="45720">
                    <a:solidFill>
                      <a:srgbClr val="232633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Видимый риск до решения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Частично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Да — на каждом контейнере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Браузер без установки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Да (Яндекс Игры)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Длина сессии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15–30 мин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5–20 мин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30–60 мин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5–15 мин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Вес клиента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≈600 МБ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≈300 МБ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≈1 ГБ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≈0,1 МБ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Сюжет с выбором концовки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Нет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8B90A0"/>
                          </a:solidFill>
                          <a:latin typeface="Verdana"/>
                        </a:rPr>
                        <a:t>Линейный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4FE3C1"/>
                          </a:solidFill>
                          <a:latin typeface="Verdana"/>
                        </a:rPr>
                        <a:t>2 концовки</a:t>
                      </a:r>
                    </a:p>
                  </a:txBody>
                  <a:tcPr marL="91440" marT="45720">
                    <a:solidFill>
                      <a:srgbClr val="1A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07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КУДА ШЛИ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Цель и задачи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5E"/>
                </a:solidFill>
                <a:latin typeface="Verdana"/>
              </a:rPr>
              <a:t>SMART-ЦЕЛЬ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5720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CEEF4"/>
                </a:solidFill>
                <a:latin typeface="Verdana"/>
              </a:rPr>
              <a:t>Разработать и подготовить к публикации на Яндекс Играх rogue-lite Astral Nomad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8B90A0"/>
                </a:solidFill>
                <a:latin typeface="Verdana"/>
              </a:rPr>
              <a:t>с сессией 5–15 минут и полным соответствием регламентам платформы — за 4 недели.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0992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Анализ ЦА, платформы и конкурентов → УТП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9572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59736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Концепт, сценарий, баланс 5 секторов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4553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9544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MVP на Vanilla JS + Canvas (12 модулей)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9534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5935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Интеграция SDK платформы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64515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3 итерации плейтестов и баланса, 42 автотеста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394959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E3C1"/>
                </a:solidFill>
                <a:latin typeface="Verdana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5896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Сборка по регламентам → модерация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08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КАК ИГРАЕТСЯ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Игровой цикл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FE3C1"/>
                </a:solidFill>
                <a:latin typeface="Verdana"/>
              </a:rPr>
              <a:t>РАЗВЕДКА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90A0"/>
                </a:solidFill>
                <a:latin typeface="Verdana"/>
              </a:rPr>
              <a:t>сектор, патрули,
контейнеры на карте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39" y="2971800"/>
            <a:ext cx="237744" cy="365760"/>
          </a:xfrm>
          <a:prstGeom prst="rightArrow">
            <a:avLst/>
          </a:prstGeom>
          <a:solidFill>
            <a:srgbClr val="EC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0116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6B5E"/>
                </a:solidFill>
                <a:latin typeface="Verdana"/>
              </a:rP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78892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90A0"/>
                </a:solidFill>
                <a:latin typeface="Verdana"/>
              </a:rPr>
              <a:t>шанс охраны виден:
вскрыть или отойти?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46904" y="2971800"/>
            <a:ext cx="237744" cy="365760"/>
          </a:xfrm>
          <a:prstGeom prst="rightArrow">
            <a:avLst/>
          </a:prstGeom>
          <a:solidFill>
            <a:srgbClr val="EC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4648" y="20116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FE3C1"/>
                </a:solidFill>
                <a:latin typeface="Verdana"/>
              </a:rPr>
              <a:t>БОЙ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78892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90A0"/>
                </a:solidFill>
                <a:latin typeface="Verdana"/>
              </a:rPr>
              <a:t>удар, рывок,
критические удары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7768" y="2971800"/>
            <a:ext cx="237744" cy="365760"/>
          </a:xfrm>
          <a:prstGeom prst="rightArrow">
            <a:avLst/>
          </a:prstGeom>
          <a:solidFill>
            <a:srgbClr val="EC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25512" y="20116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6B5E"/>
                </a:solidFill>
                <a:latin typeface="Verdana"/>
              </a:rPr>
              <a:t>НАГРАДА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78892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90A0"/>
                </a:solidFill>
                <a:latin typeface="Verdana"/>
              </a:rPr>
              <a:t>лут за риск,
магазин за лом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28632" y="2971800"/>
            <a:ext cx="237744" cy="365760"/>
          </a:xfrm>
          <a:prstGeom prst="rightArrow">
            <a:avLst/>
          </a:prstGeom>
          <a:solidFill>
            <a:srgbClr val="EC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66376" y="2011680"/>
            <a:ext cx="2103120" cy="23774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66376" y="22402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FE3C1"/>
                </a:solidFill>
                <a:latin typeface="Verdana"/>
              </a:rPr>
              <a:t>ПРОГРЕСС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2788920"/>
            <a:ext cx="1828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8B90A0"/>
                </a:solidFill>
                <a:latin typeface="Verdana"/>
              </a:rPr>
              <a:t>новый сектор,
память и финал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ECEEF4"/>
                </a:solidFill>
                <a:latin typeface="Verdana"/>
              </a:rPr>
              <a:t>Смерть — не конец: rogue-lite сохраняет сектора и оружие, забирая еду и часть лома.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09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ЧЕМ ОТЛИЧАЕМСЯ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Уникальность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562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E3C1"/>
                </a:solidFill>
                <a:latin typeface="Verdana"/>
              </a:rPr>
              <a:t>Риск как выбор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шанс охраны виден до вскрытия — решает игрок, а не случай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9164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8562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6B5E"/>
                </a:solidFill>
                <a:latin typeface="Verdana"/>
              </a:rPr>
              <a:t>Честный бой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77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перед атакой враг замахивается — удар видно и можно увернуться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9164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562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E3C1"/>
                </a:solidFill>
                <a:latin typeface="Verdana"/>
              </a:rPr>
              <a:t>Смерть без злости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37744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rogue-lite: прогресс секторов и оружие не сгорают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096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6B5E"/>
                </a:solidFill>
                <a:latin typeface="Verdana"/>
              </a:rPr>
              <a:t>Сюжет с выбором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17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память возвращается по секторам, 2 концовки + бесконечный режим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931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4096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E3C1"/>
                </a:solidFill>
                <a:latin typeface="Verdana"/>
              </a:rPr>
              <a:t>0,1 МБ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617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графика — код на Canvas, звук — синтез: ноль ассетов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9319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4096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6B5E"/>
                </a:solidFill>
                <a:latin typeface="Verdana"/>
              </a:rPr>
              <a:t>Готов к платформе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617720"/>
            <a:ext cx="3200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B90A0"/>
                </a:solidFill>
                <a:latin typeface="Verdana"/>
              </a:rPr>
              <a:t>русский язык, 12+, адаптив 21:9 / 16:9 / 4:3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10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НА ЧЁМ СДЕЛАНО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Технологический стек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8366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Vanilla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73736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88366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Canvas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73736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8366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Web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4378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Yandex SDK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97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284378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Git +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2697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284378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ECEEF4"/>
                </a:solidFill>
                <a:latin typeface="Verdana"/>
              </a:rPr>
              <a:t>Node-тесты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8620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B5E"/>
                </a:solidFill>
                <a:latin typeface="Verdana"/>
              </a:rPr>
              <a:t>Почему без движка?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0A0"/>
                </a:solidFill>
                <a:latin typeface="Verdana"/>
              </a:rPr>
              <a:t>Unity-сборка весит десятки мегабайт и прячет платформенные детали. Нативный JS дал сборку ≈0,1 МБ (в 1000 раз меньше лимита), загрузку за секунду и полный контроль над паузой, сейвами и рендером.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FE3C1"/>
                </a:solidFill>
                <a:latin typeface="Verdana"/>
              </a:rPr>
              <a:t>Качество держат 42 автотеста логики — прогон перед каждым коммитом.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11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СМОТРИМ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Демонстрация игры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B90A0"/>
                </a:solidFill>
                <a:latin typeface="Verdana"/>
              </a:rPr>
              <a:t>[ скриншот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FE3C1"/>
                </a:solidFill>
                <a:latin typeface="Verdana"/>
              </a:rPr>
              <a:t>Игровой экран: сектор и HUD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B90A0"/>
                </a:solidFill>
                <a:latin typeface="Verdana"/>
              </a:rPr>
              <a:t>[ скриншот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FE3C1"/>
                </a:solidFill>
                <a:latin typeface="Verdana"/>
              </a:rPr>
              <a:t>Выбор: шанс охраны 58 %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B90A0"/>
                </a:solidFill>
                <a:latin typeface="Verdana"/>
              </a:rPr>
              <a:t>[ скриншот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FE3C1"/>
                </a:solidFill>
                <a:latin typeface="Verdana"/>
              </a:rPr>
              <a:t>Босс: красная зона удара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1A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6634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8B90A0"/>
                </a:solidFill>
                <a:latin typeface="Verdana"/>
              </a:rPr>
              <a:t>[ скриншот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3212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4FE3C1"/>
                </a:solidFill>
                <a:latin typeface="Verdana"/>
              </a:rPr>
              <a:t>Синтезатор и карта секторов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B90A0"/>
                </a:solidFill>
                <a:latin typeface="Verdana"/>
              </a:rPr>
              <a:t>12 — ASTRAL NOMAD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355080"/>
            <a:ext cx="11183112" cy="12700"/>
          </a:xfrm>
          <a:prstGeom prst="rect">
            <a:avLst/>
          </a:prstGeom>
          <a:solidFill>
            <a:srgbClr val="2A2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E3C1"/>
                </a:solidFill>
                <a:latin typeface="Verdana"/>
              </a:rPr>
              <a:t>ЧТО ПОЛУЧИЛИ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EF4"/>
                </a:solidFill>
                <a:latin typeface="Verdana"/>
              </a:rPr>
              <a:t>Результат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E3C1"/>
                </a:solidFill>
                <a:latin typeface="Verdan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824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MVP Astral Nomad: 5 секторов, босс, 2 концовки, бесконечный режим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E3C1"/>
                </a:solidFill>
                <a:latin typeface="Verdan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942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Интеграция Yandex SDK и сохранение прогресса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E3C1"/>
                </a:solidFill>
                <a:latin typeface="Verdan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1635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Сборка ≈0,1 МБ, автономная, проверена в Chrome / Firefox / Safari /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E3C1"/>
                </a:solidFill>
                <a:latin typeface="Verdan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3 итерации плейтестов: правки баланса по отзывам игроков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E3C1"/>
                </a:solidFill>
                <a:latin typeface="Verdan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5020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ECEEF4"/>
                </a:solidFill>
                <a:latin typeface="Verdana"/>
              </a:rPr>
              <a:t>Аналитика ЦА и платформы, отчёт, открытый репозиторий на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6B5E"/>
                </a:solidFill>
                <a:latin typeface="Verdana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1713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8B90A0"/>
                </a:solidFill>
                <a:latin typeface="Verdana"/>
              </a:rPr>
              <a:t>Загрузка в консоль разработчика и прохождение модерации  (в процессе)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6B5E"/>
                </a:solidFill>
                <a:latin typeface="Verdan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8406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8B90A0"/>
                </a:solidFill>
                <a:latin typeface="Verdana"/>
              </a:rPr>
              <a:t>Мобильное управление и лидерборды — после публикации  (в процессе)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EEF4"/>
                </a:solidFill>
                <a:latin typeface="Verdana"/>
              </a:rPr>
              <a:t>СПАСИБО ЗА ВНИМАНИЕ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8B90A0"/>
                </a:solidFill>
                <a:latin typeface="Verdana"/>
              </a:rPr>
              <a:t>Готовы ответить на вопросы — и показать игру вживую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Тимлид — ____________________ РИ-XXXXXX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Гейм-дизайнер — ____________________ РИ-XXXXXX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Аналитик — ____________________ РИ-XXXXXX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Сценарист — ____________________ РИ-XXXXXX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CEEF4"/>
                </a:solidFill>
                <a:latin typeface="Verdana"/>
              </a:rPr>
              <a:t>Разработчик — ____________________ РИ-XXXXXX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E3C1"/>
                </a:solidFill>
                <a:latin typeface="Verdana"/>
              </a:rPr>
              <a:t>Astral Nomad · Яндекс Игры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
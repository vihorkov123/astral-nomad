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38944" y="4873752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2832" y="2478024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63040" y="2020824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956048" y="536752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47104" y="15544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06640" y="3904487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023360" y="608076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49424" y="3904487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553212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29584" y="116128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65408" y="6227064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06256" y="335584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0" y="505663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15984" y="152704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0" y="172821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17904" y="1088136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75904" y="597103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79792" y="236829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2" y="337413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2144" y="3392424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2336" y="3959352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02736" y="617220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42048" y="136245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68112" y="4855464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792224" y="4581144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9136" y="2697480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79776" y="410565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" y="251460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8" y="2935224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93808" y="452628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8368" y="1874519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36592" y="299008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594592" y="502005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16752" y="437997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41280" y="2752344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370832" y="3172968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1024" y="923544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62288" y="280720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19872" y="205740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005072" y="35661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692640" y="594360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285232" y="105156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16736" y="319125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661904" y="5404104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741664" y="472744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408176" y="5294376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899648" y="341071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273552" y="50292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68096" y="66751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212848" y="609904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37376" y="4325112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248656" y="4014215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180576" y="253288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699248" y="94183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315968" y="370332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01168" y="5623560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29600" y="139903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503920" y="225856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94560" y="395935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517136" y="134416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9AA6D0"/>
                </a:solidFill>
                <a:latin typeface="Segoe UI"/>
              </a:rPr>
              <a:t>ПРЕЗЕНТАЦИЯ ПРОЕКТА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DFE6FF"/>
                </a:solidFill>
                <a:latin typeface="Segoe UI"/>
              </a:rPr>
              <a:t>«АСТРАЛЬНЫЙ СКИТАЛЕЦ»</a:t>
            </a:r>
          </a:p>
          <a:p>
            <a:pPr algn="ctr">
              <a:spcAft>
                <a:spcPts val="600"/>
              </a:spcAft>
            </a:pPr>
            <a:r>
              <a:rPr sz="2200" b="0">
                <a:solidFill>
                  <a:srgbClr val="FFD76E"/>
                </a:solidFill>
                <a:latin typeface="Segoe UI"/>
              </a:rPr>
              <a:t>Разработка коммерческой игры под Яндекс Игры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42062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9AA6D0"/>
                </a:solidFill>
                <a:latin typeface="Segoe UI"/>
              </a:rPr>
              <a:t>2D top-down survival / rogue-lite · Vanilla JS + HTML5 Canvas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FE6FF"/>
                </a:solidFill>
                <a:latin typeface="Segoe UI"/>
              </a:rPr>
              <a:t>Команда: ____________________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AA6D0"/>
                </a:solidFill>
                <a:latin typeface="Segoe UI"/>
              </a:rPr>
              <a:t>Екатеринбург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DFE6FF"/>
                </a:solidFill>
                <a:latin typeface="Segoe UI"/>
              </a:rPr>
              <a:t>Идея проекта и проблема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51560"/>
            <a:ext cx="1463040" cy="54864"/>
          </a:xfrm>
          <a:prstGeom prst="roundRect">
            <a:avLst>
              <a:gd name="adj" fmla="val 6000"/>
            </a:avLst>
          </a:prstGeom>
          <a:solidFill>
            <a:srgbClr val="FFD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Проблема игрока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502920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Казуальные браузерные игры часто не дают осмысленного выбора: игрок механически повторяет одно действие.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Запрос аудитории — короткая сессия с настоящим решением «рискнуть или сыграть осторожно» и сохранением прогресса между устройствами.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Проблема студента (учебный трек)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31720"/>
            <a:ext cx="502920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У студентов 1 курса нет опыта полного цикла веб-публикации: учебные проекты не доходят до реальной дистрибуции.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Создание HTML5-игры решает комплексную задачу: интеграция SDK, сборка ≤100 МБ, облачные сохранения, реальная модерация.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D76E"/>
                </a:solidFill>
                <a:latin typeface="Segoe UI"/>
              </a:rPr>
              <a:t>Идея: rogue-lite про пилота, который после крушения собирает энергию по секторам планеты и возвращает память — каждый контейнер это выбор «риск или награда».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DFE6FF"/>
                </a:solidFill>
                <a:latin typeface="Segoe UI"/>
              </a:rPr>
              <a:t>Целевая аудитория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51560"/>
            <a:ext cx="1463040" cy="54864"/>
          </a:xfrm>
          <a:prstGeom prst="roundRect">
            <a:avLst>
              <a:gd name="adj" fmla="val 6000"/>
            </a:avLst>
          </a:prstGeom>
          <a:solidFill>
            <a:srgbClr val="FFD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6D0"/>
                </a:solidFill>
                <a:latin typeface="Segoe UI"/>
              </a:rPr>
              <a:t>методика 5W Шеррингтона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01 / Игроки (B2C)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5029200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Профиль: мужчины и женщины 12–35 лет из РФ и СНГ, играют с ПК.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Потребность: быстрый запуск сессии на 5–15 минут без скачивания.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Мотивация: азарт «риск/награда», прогрессия, сюжет с выбором.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Где: каталог и рекомендации Яндекс Игр.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02 / Создатели (Edu)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5029200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Профиль: студенты технических вузов, начинающие инди-разработчики.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Потребность: полный цикл веб-разработки на открытом примере — SDK, оптимизация, модерация.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Ценность: сильный кейс в портфолио, воспроизводимый код на GitHub.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DFE6FF"/>
                </a:solidFill>
                <a:latin typeface="Segoe UI"/>
              </a:rPr>
              <a:t>Анализ конкурентов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51560"/>
            <a:ext cx="1463040" cy="54864"/>
          </a:xfrm>
          <a:prstGeom prst="roundRect">
            <a:avLst>
              <a:gd name="adj" fmla="val 6000"/>
            </a:avLst>
          </a:prstGeom>
          <a:solidFill>
            <a:srgbClr val="FFD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017520"/>
                <a:gridCol w="2377440"/>
                <a:gridCol w="2560320"/>
              </a:tblGrid>
              <a:tr h="74676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D76E"/>
                          </a:solidFill>
                          <a:latin typeface="Segoe UI"/>
                        </a:rPr>
                        <a:t>Критерий сравнения</a:t>
                      </a:r>
                    </a:p>
                  </a:txBody>
                  <a:tcPr marL="109728" marT="54864">
                    <a:solidFill>
                      <a:srgbClr val="232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D76E"/>
                          </a:solidFill>
                          <a:latin typeface="Segoe UI"/>
                        </a:rPr>
                        <a:t>Казуальные игры на площадке</a:t>
                      </a:r>
                    </a:p>
                  </a:txBody>
                  <a:tcPr marL="109728" marT="54864">
                    <a:solidFill>
                      <a:srgbClr val="232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D76E"/>
                          </a:solidFill>
                          <a:latin typeface="Segoe UI"/>
                        </a:rPr>
                        <a:t>Курсы и видеогайды</a:t>
                      </a:r>
                    </a:p>
                  </a:txBody>
                  <a:tcPr marL="109728" marT="54864">
                    <a:solidFill>
                      <a:srgbClr val="232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D76E"/>
                          </a:solidFill>
                          <a:latin typeface="Segoe UI"/>
                        </a:rPr>
                        <a:t>Наш проект</a:t>
                      </a:r>
                    </a:p>
                  </a:txBody>
                  <a:tcPr marL="109728" marT="54864">
                    <a:solidFill>
                      <a:srgbClr val="232D5C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DFE6FF"/>
                          </a:solidFill>
                          <a:latin typeface="Segoe UI"/>
                        </a:rPr>
                        <a:t>Реальная веб-публикация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DFE6FF"/>
                          </a:solidFill>
                          <a:latin typeface="Segoe UI"/>
                        </a:rPr>
                        <a:t>Да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DFE6FF"/>
                          </a:solidFill>
                          <a:latin typeface="Segoe UI"/>
                        </a:rPr>
                        <a:t>Редко (локально)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D76E"/>
                          </a:solidFill>
                          <a:latin typeface="Segoe UI"/>
                        </a:rPr>
                        <a:t>Да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DFE6FF"/>
                          </a:solidFill>
                          <a:latin typeface="Segoe UI"/>
                        </a:rPr>
                        <a:t>Выбор «риск / награда»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DFE6FF"/>
                          </a:solidFill>
                          <a:latin typeface="Segoe UI"/>
                        </a:rPr>
                        <a:t>Редко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DFE6F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D76E"/>
                          </a:solidFill>
                          <a:latin typeface="Segoe UI"/>
                        </a:rPr>
                        <a:t>Да: шансы видны до вскрытия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DFE6FF"/>
                          </a:solidFill>
                          <a:latin typeface="Segoe UI"/>
                        </a:rPr>
                        <a:t>Платформенная готовность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DFE6FF"/>
                          </a:solidFill>
                          <a:latin typeface="Segoe UI"/>
                        </a:rPr>
                        <a:t>Да (закрытый код)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DFE6FF"/>
                          </a:solidFill>
                          <a:latin typeface="Segoe UI"/>
                        </a:rPr>
                        <a:t>Нет (макеты)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D76E"/>
                          </a:solidFill>
                          <a:latin typeface="Segoe UI"/>
                        </a:rPr>
                        <a:t>Да (полное соответствие)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DFE6FF"/>
                          </a:solidFill>
                          <a:latin typeface="Segoe UI"/>
                        </a:rPr>
                        <a:t>Открытый код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DFE6FF"/>
                          </a:solidFill>
                          <a:latin typeface="Segoe UI"/>
                        </a:rPr>
                        <a:t>Нет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DFE6FF"/>
                          </a:solidFill>
                          <a:latin typeface="Segoe UI"/>
                        </a:rPr>
                        <a:t>Иногда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D76E"/>
                          </a:solidFill>
                          <a:latin typeface="Segoe UI"/>
                        </a:rPr>
                        <a:t>Да (учебный референс)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DFE6FF"/>
                          </a:solidFill>
                          <a:latin typeface="Segoe UI"/>
                        </a:rPr>
                        <a:t>Вес сборки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DFE6FF"/>
                          </a:solidFill>
                          <a:latin typeface="Segoe UI"/>
                        </a:rPr>
                        <a:t>5–100 МБ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DFE6F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D76E"/>
                          </a:solidFill>
                          <a:latin typeface="Segoe UI"/>
                        </a:rPr>
                        <a:t>≈0,1 МБ</a:t>
                      </a:r>
                    </a:p>
                  </a:txBody>
                  <a:tcPr marL="109728" marT="54864">
                    <a:solidFill>
                      <a:srgbClr val="161D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DFE6FF"/>
                </a:solidFill>
                <a:latin typeface="Segoe UI"/>
              </a:rPr>
              <a:t>Цели и задачи проекта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51560"/>
            <a:ext cx="1463040" cy="54864"/>
          </a:xfrm>
          <a:prstGeom prst="roundRect">
            <a:avLst>
              <a:gd name="adj" fmla="val 6000"/>
            </a:avLst>
          </a:prstGeom>
          <a:solidFill>
            <a:srgbClr val="FFD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1247120" cy="96012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FFD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FE6FF"/>
                </a:solidFill>
                <a:latin typeface="Segoe UI"/>
              </a:rPr>
              <a:t>SMART-цель: разработать и подготовить к публикации HTML5-игру с интеграцией Yandex SDK, пройти модерацию и получить публичную ссылку за 4 недели.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221284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01. Анализ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2212848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Требования платформы, ЦА (5W), аналоги, выбор стека.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274320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926080"/>
            <a:ext cx="221284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02. Разработка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3429000"/>
            <a:ext cx="2212848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Игровое ядро на Canvas: сектора, бой, экономика, сюжет.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274320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2926080"/>
            <a:ext cx="221284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03. Интеграция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3429000"/>
            <a:ext cx="2212848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Yandex SDK: автопауза, облачные сейвы + localStorage.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07424" y="274320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6024" y="2926080"/>
            <a:ext cx="221284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04. Релиз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6024" y="3429000"/>
            <a:ext cx="2212848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Оптимизация ≤100 МБ, кросс-браузерность, модерация.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DFE6FF"/>
                </a:solidFill>
                <a:latin typeface="Segoe UI"/>
              </a:rPr>
              <a:t>Уникальность проекта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51560"/>
            <a:ext cx="1463040" cy="54864"/>
          </a:xfrm>
          <a:prstGeom prst="roundRect">
            <a:avLst>
              <a:gd name="adj" fmla="val 6000"/>
            </a:avLst>
          </a:prstGeom>
          <a:solidFill>
            <a:srgbClr val="FFD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Геймплей осознанного риска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5029200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• Шанс охраны виден ДО вскрытия контейнера — решение за игроком.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• Телеграфированные атаки всех врагов: видно замах — можно уклониться.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• Rogue-lite смерть: теряется еда и часть лома, но не прогресс.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• Сюжет с возвращением памяти и двумя концовками.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Фокус на инфраструктуре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31720"/>
            <a:ext cx="5029200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• Сборка ≈0,1 МБ — в 1000 раз меньше лимита платформы.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• Ноль внешних зависимостей: вся графика — Canvas, весь звук — WebAudio.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• Эталонная обработка pause/resume и облачных сохранений.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• Открытый код: учебный референс полного цикла публикации.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DFE6FF"/>
                </a:solidFill>
                <a:latin typeface="Segoe UI"/>
              </a:rPr>
              <a:t>Требования к продукту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51560"/>
            <a:ext cx="1463040" cy="54864"/>
          </a:xfrm>
          <a:prstGeom prst="roundRect">
            <a:avLst>
              <a:gd name="adj" fmla="val 6000"/>
            </a:avLst>
          </a:prstGeom>
          <a:solidFill>
            <a:srgbClr val="FFD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602736" cy="448056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31455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Технические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3145536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Экспорт в HTML5, лимит веса 100 МБ, кросс-браузерность (Chrome, Firefox, Safari, Edge), стабильная работа без внешних зависимостей.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602736" cy="448056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31455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Интеграция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331720"/>
            <a:ext cx="3145536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Обязательная автопауза при сворачивании вкладки и асинхронные облачные сохранения savePlayerData / getPlayerData с резервом в localStorage.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1312" y="1645920"/>
            <a:ext cx="3602736" cy="448056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1828800"/>
            <a:ext cx="31455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Платформенные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2331720"/>
            <a:ext cx="3145536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Русский интерфейс, соответствие регламентам платформы и контентной политике 12+, адаптация под 21:9 / 16:9 / 4:3.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DFE6FF"/>
                </a:solidFill>
                <a:latin typeface="Segoe UI"/>
              </a:rPr>
              <a:t>Технологический стек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51560"/>
            <a:ext cx="1463040" cy="54864"/>
          </a:xfrm>
          <a:prstGeom prst="roundRect">
            <a:avLst>
              <a:gd name="adj" fmla="val 6000"/>
            </a:avLst>
          </a:prstGeom>
          <a:solidFill>
            <a:srgbClr val="FFD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Почему Vanilla JS?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5029200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Тяжёлые движки (Unity) генерируют громоздкие веб-билды, которые сложно вписать в лимиты без потери производительности.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Нативный JS даёт минимальный вес, мгновенную загрузку и полный контроль над кодом — критично для модерации и учебных целей.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Выбранные инструменты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31720"/>
            <a:ext cx="5029200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• HTML5 Canvas API — лёгкий 2D-рендеринг (вся графика кодом).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• Web Audio API — процедурный звук, ноль аудиофайлов.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• Yandex Games SDK — авторизация, сейвы, события паузы.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• Git + GitHub — версионный контроль и история итераций.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• Node.js — 42 автотеста логики без браузера.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• sdk-dev-proxy — локальная эмуляция платформы.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DFE6FF"/>
                </a:solidFill>
                <a:latin typeface="Segoe UI"/>
              </a:rPr>
              <a:t>Схема работы приложения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51560"/>
            <a:ext cx="1463040" cy="54864"/>
          </a:xfrm>
          <a:prstGeom prst="roundRect">
            <a:avLst>
              <a:gd name="adj" fmla="val 6000"/>
            </a:avLst>
          </a:prstGeom>
          <a:solidFill>
            <a:srgbClr val="FFD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639312" cy="402336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1821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Инициализация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3182112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Загрузка /sdk.js → YaGames.init() → getPlayerData() (облако или localStorage) → LoadingAPI.ready().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96512" y="3520440"/>
            <a:ext cx="365760" cy="457200"/>
          </a:xfrm>
          <a:prstGeom prst="rightArrow">
            <a:avLst/>
          </a:prstGeom>
          <a:solidFill>
            <a:srgbClr val="FFD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70831" y="1737360"/>
            <a:ext cx="3639312" cy="402336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20240"/>
            <a:ext cx="31821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Игровой цикл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423160"/>
            <a:ext cx="3182112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requestAnimationFrame: ввод → логика (голод, враги, бой) → рендер Canvas → HUD. Камера с зумом, частицы, телеграфы атак.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18704" y="3520440"/>
            <a:ext cx="365760" cy="457200"/>
          </a:xfrm>
          <a:prstGeom prst="rightArrow">
            <a:avLst/>
          </a:prstGeom>
          <a:solidFill>
            <a:srgbClr val="FFD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3023" y="1737360"/>
            <a:ext cx="3639312" cy="402336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1624" y="1920240"/>
            <a:ext cx="31821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Синхронизация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2423160"/>
            <a:ext cx="3182112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FE6FF"/>
                </a:solidFill>
                <a:latin typeface="Segoe UI"/>
              </a:rPr>
              <a:t>События игры меняют модель сейва → дебаунс 0,8 с → savePlayerData + localStorage. Автопауза по visibilitychange / blur / pagehide.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DFE6FF"/>
                </a:solidFill>
                <a:latin typeface="Segoe UI"/>
              </a:rPr>
              <a:t>Финальный геймплей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51560"/>
            <a:ext cx="1463040" cy="54864"/>
          </a:xfrm>
          <a:prstGeom prst="roundRect">
            <a:avLst>
              <a:gd name="adj" fmla="val 6000"/>
            </a:avLst>
          </a:prstGeom>
          <a:solidFill>
            <a:srgbClr val="FFD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247120" cy="4754880"/>
          </a:xfrm>
          <a:prstGeom prst="roundRect">
            <a:avLst>
              <a:gd name="adj" fmla="val 6000"/>
            </a:avLst>
          </a:prstGeom>
          <a:solidFill>
            <a:srgbClr val="161D3D"/>
          </a:solidFill>
          <a:ln w="15875">
            <a:solidFill>
              <a:srgbClr val="5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76E"/>
                </a:solidFill>
                <a:latin typeface="Segoe UI"/>
              </a:rPr>
              <a:t>Что получилось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1078992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FE6FF"/>
                </a:solidFill>
                <a:latin typeface="Segoe UI"/>
              </a:rPr>
              <a:t>• 5 сюжетных секторов + бесконечные «дальние сектора» после второй концовки.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DFE6FF"/>
                </a:solidFill>
                <a:latin typeface="Segoe UI"/>
              </a:rPr>
              <a:t>• Контейнеры с видимым риском: лут сразу — или бой с охраной за награду ×1,5.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DFE6FF"/>
                </a:solidFill>
                <a:latin typeface="Segoe UI"/>
              </a:rPr>
              <a:t>• Бой: два оружия (Tab), криты 15 %, рывок с неуязвимостью, автоприцел; у всех врагов атаки с телеграфом.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DFE6FF"/>
                </a:solidFill>
                <a:latin typeface="Segoe UI"/>
              </a:rPr>
              <a:t>• Босс «Страж Ядра»: замах → удар по площади → окно уязвимости.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DFE6FF"/>
                </a:solidFill>
                <a:latin typeface="Segoe UI"/>
              </a:rPr>
              <a:t>• Экономика дефицита: голод, лом, магазин-синтезатор у шлюпки, баффы.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DFE6FF"/>
                </a:solidFill>
                <a:latin typeface="Segoe UI"/>
              </a:rPr>
              <a:t>• Облачные сохранения + автопауза: полное соответствие регламентам Яндекс Игр.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DFE6FF"/>
                </a:solidFill>
                <a:latin typeface="Segoe UI"/>
              </a:rPr>
              <a:t>• Сборка ≈100 КБ, 42 автотеста, открытый репозиторий на GitHub.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06640" y="3977639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2496" y="59436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31152" y="416052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392277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112264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24544" y="5422392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350215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04288" y="3849624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93392" y="569671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03136" y="520293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81360" y="5221224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0" y="498348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38928" y="4014215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22592" y="172821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0" y="2843784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43200" y="45720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84464" y="492861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42048" y="106984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3904487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14816" y="231343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89136" y="5074920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61504" y="341071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" y="39319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04704" y="106984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871216" y="35661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21824" y="2020824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864" y="624535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12864" y="578815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16752" y="309981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559552" y="5312664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52560" y="1271016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21024" y="428853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503152" y="573328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38144" y="96012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86800" y="5586984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92640" y="2130552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85232" y="427024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316736" y="4032504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39312" y="456285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082528" y="630021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89904" y="5330952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217920" y="4910328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96144" y="1746504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449824" y="553212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553712" y="196596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755648" y="2606040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48656" y="635508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521440" y="373989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6656" y="566013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56832" y="575157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542032" y="5989320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229600" y="194767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503920" y="149047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876288" y="2130552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539728" y="5257800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78624" y="1033271"/>
            <a:ext cx="45720" cy="45720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626864" y="566013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095744" y="300837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51376" y="620877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009376" y="5568696"/>
            <a:ext cx="27432" cy="27432"/>
          </a:xfrm>
          <a:prstGeom prst="ellipse">
            <a:avLst/>
          </a:prstGeom>
          <a:solidFill>
            <a:srgbClr val="AA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DFE6FF"/>
                </a:solidFill>
                <a:latin typeface="Segoe UI"/>
              </a:rPr>
              <a:t>Спасибо за внимание!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9AA6D0"/>
                </a:solidFill>
                <a:latin typeface="Segoe UI"/>
              </a:rPr>
              <a:t>Готовы ответить на ваши вопросы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46634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FE6FF"/>
                </a:solidFill>
                <a:latin typeface="Segoe UI"/>
              </a:rPr>
              <a:t>Команда: ____________________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FD76E"/>
                </a:solidFill>
                <a:latin typeface="Segoe UI"/>
              </a:rPr>
              <a:t>«Астральный скиталец» · Разработка под Яндекс Игры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
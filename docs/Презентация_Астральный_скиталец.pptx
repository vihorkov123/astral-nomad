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E3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ПРОЕКТНЫЙ ПРАКТИКУМ 1A · ТРЕК «РАЗРАБОТКА КОММЕРЧЕСКОЙ ИГРЫ ПОД ЯНДЕКС ИГРЫ»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5200" b="1">
                <a:solidFill>
                  <a:srgbClr val="ECEEF4"/>
                </a:solidFill>
                <a:latin typeface="Verdana"/>
              </a:rPr>
              <a:t>АСТРАЛЬНЫЙ</a:t>
            </a:r>
          </a:p>
          <a:p>
            <a:pPr algn="l">
              <a:spcAft>
                <a:spcPts val="400"/>
              </a:spcAft>
            </a:pPr>
            <a:r>
              <a:rPr sz="5200" b="1">
                <a:solidFill>
                  <a:srgbClr val="4FE3C1"/>
                </a:solidFill>
                <a:latin typeface="Verdana"/>
              </a:rPr>
              <a:t>СКИТАЛЕЦ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ECEEF4"/>
                </a:solidFill>
                <a:latin typeface="Verdana"/>
              </a:rPr>
              <a:t>Браузерный rogue-lite, в котором риск — это выбор игрока,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ECEEF4"/>
                </a:solidFill>
                <a:latin typeface="Verdana"/>
              </a:rPr>
              <a:t>а не бросок невидимых костей.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ECEEF4"/>
                </a:solidFill>
                <a:latin typeface="Verdana"/>
              </a:rPr>
              <a:t>Команда: ____________________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Куратор: ____________________ · Екатеринбург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0A0"/>
                </a:solidFill>
                <a:latin typeface="Verdana"/>
              </a:rPr>
              <a:t>02 — АСТРАЛЬНЫЙ СКИТАЛЕЦ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355080"/>
            <a:ext cx="11183112" cy="12700"/>
          </a:xfrm>
          <a:prstGeom prst="rect">
            <a:avLst/>
          </a:prstGeom>
          <a:solidFill>
            <a:srgbClr val="2A2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FE3C1"/>
                </a:solidFill>
                <a:latin typeface="Verdana"/>
              </a:rPr>
              <a:t>КТО ДЕЛАЛ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CEEF4"/>
                </a:solidFill>
                <a:latin typeface="Verdana"/>
              </a:rPr>
              <a:t>Наша команда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2121408" cy="356616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2121408" cy="109728"/>
          </a:xfrm>
          <a:prstGeom prst="rect">
            <a:avLst/>
          </a:prstGeom>
          <a:solidFill>
            <a:srgbClr val="4FE3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057400"/>
            <a:ext cx="179222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CEEF4"/>
                </a:solidFill>
                <a:latin typeface="Verdana"/>
              </a:rPr>
              <a:t>Тимлид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606040"/>
            <a:ext cx="1792224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________________
РИ-XXXXXX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4206240"/>
            <a:ext cx="1792224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FE3C1"/>
                </a:solidFill>
                <a:latin typeface="Verdana"/>
              </a:rPr>
              <a:t>план · темп · приёмка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7208" y="1737360"/>
            <a:ext cx="2121408" cy="356616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07208" y="1737360"/>
            <a:ext cx="2121408" cy="109728"/>
          </a:xfrm>
          <a:prstGeom prst="rect">
            <a:avLst/>
          </a:prstGeom>
          <a:solidFill>
            <a:srgbClr val="FF6B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71800" y="2057400"/>
            <a:ext cx="179222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CEEF4"/>
                </a:solidFill>
                <a:latin typeface="Verdana"/>
              </a:rPr>
              <a:t>Аналитик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2606040"/>
            <a:ext cx="1792224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________________
РИ-XXXXXX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4206240"/>
            <a:ext cx="1792224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FE3C1"/>
                </a:solidFill>
                <a:latin typeface="Verdana"/>
              </a:rPr>
              <a:t>5W · Wordstat · конкуренты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11496" y="1737360"/>
            <a:ext cx="2121408" cy="356616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11496" y="1737360"/>
            <a:ext cx="2121408" cy="109728"/>
          </a:xfrm>
          <a:prstGeom prst="rect">
            <a:avLst/>
          </a:prstGeom>
          <a:solidFill>
            <a:srgbClr val="4FE3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76088" y="2057400"/>
            <a:ext cx="179222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CEEF4"/>
                </a:solidFill>
                <a:latin typeface="Verdana"/>
              </a:rPr>
              <a:t>Дизайнер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6088" y="2606040"/>
            <a:ext cx="1792224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________________
РИ-XXXXXX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76088" y="4206240"/>
            <a:ext cx="1792224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FE3C1"/>
                </a:solidFill>
                <a:latin typeface="Verdana"/>
              </a:rPr>
              <a:t>баланс · сюжет · UX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15784" y="1737360"/>
            <a:ext cx="2121408" cy="356616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15784" y="1737360"/>
            <a:ext cx="2121408" cy="109728"/>
          </a:xfrm>
          <a:prstGeom prst="rect">
            <a:avLst/>
          </a:prstGeom>
          <a:solidFill>
            <a:srgbClr val="FF6B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0376" y="2057400"/>
            <a:ext cx="179222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CEEF4"/>
                </a:solidFill>
                <a:latin typeface="Verdana"/>
              </a:rPr>
              <a:t>Фронтенд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0376" y="2606040"/>
            <a:ext cx="1792224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________________
РИ-XXXXXX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0376" y="4206240"/>
            <a:ext cx="1792224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FE3C1"/>
                </a:solidFill>
                <a:latin typeface="Verdana"/>
              </a:rPr>
              <a:t>Canvas · игровой цикл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20072" y="1737360"/>
            <a:ext cx="2121408" cy="356616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20072" y="1737360"/>
            <a:ext cx="2121408" cy="109728"/>
          </a:xfrm>
          <a:prstGeom prst="rect">
            <a:avLst/>
          </a:prstGeom>
          <a:solidFill>
            <a:srgbClr val="4FE3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84664" y="2057400"/>
            <a:ext cx="179222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CEEF4"/>
                </a:solidFill>
                <a:latin typeface="Verdana"/>
              </a:rPr>
              <a:t>Бэкенд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84664" y="2606040"/>
            <a:ext cx="1792224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________________
РИ-XXXXXX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84664" y="4206240"/>
            <a:ext cx="1792224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FE3C1"/>
                </a:solidFill>
                <a:latin typeface="Verdana"/>
              </a:rPr>
              <a:t>SDK · сейвы · тесты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0A0"/>
                </a:solidFill>
                <a:latin typeface="Verdana"/>
              </a:rPr>
              <a:t>03 — АСТРАЛЬНЫЙ СКИТАЛЕЦ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355080"/>
            <a:ext cx="11183112" cy="12700"/>
          </a:xfrm>
          <a:prstGeom prst="rect">
            <a:avLst/>
          </a:prstGeom>
          <a:solidFill>
            <a:srgbClr val="2A2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FE3C1"/>
                </a:solidFill>
                <a:latin typeface="Verdana"/>
              </a:rPr>
              <a:t>ЗАЧЕМ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CEEF4"/>
                </a:solidFill>
                <a:latin typeface="Verdana"/>
              </a:rPr>
              <a:t>Проблематика: браузеру не хватает решений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91640"/>
            <a:ext cx="5486400" cy="429768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801368"/>
            <a:ext cx="1097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4FE3C1"/>
                </a:solidFill>
                <a:latin typeface="Verdan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350008"/>
            <a:ext cx="508406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ECEEF4"/>
                </a:solidFill>
                <a:latin typeface="Verdana"/>
              </a:rPr>
              <a:t>Игрок устал кликать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807208"/>
            <a:ext cx="5084064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Каталог браузерных игр — кликеры и аркады, где игрок не принимает решений.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Поколение Vampire Survivors и Brotato ждёт rogue-lite опыт, но Steam-игры требуют установки и сотен мегабайт.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«Хочу рискнуть и пощекотать нервы за десять минут в браузере — а не кликать бесконечную цифру».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91640"/>
            <a:ext cx="5486400" cy="429768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01368"/>
            <a:ext cx="1097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6B5E"/>
                </a:solidFill>
                <a:latin typeface="Verdan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350008"/>
            <a:ext cx="508406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ECEEF4"/>
                </a:solidFill>
                <a:latin typeface="Verdana"/>
              </a:rPr>
              <a:t>Ниша пуста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2807208"/>
            <a:ext cx="5084064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На Яндекс Играх нет лёгкого rogue-lite, где риск виден и выбирается игроком.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Существующие «выживалки» не дают цены ошибки: терять нечего — играть незачем.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Свободная ниша + растущая платформа = окно возможности для нашего проекта.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0A0"/>
                </a:solidFill>
                <a:latin typeface="Verdana"/>
              </a:rPr>
              <a:t>04 — АСТРАЛЬНЫЙ СКИТАЛЕЦ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355080"/>
            <a:ext cx="11183112" cy="12700"/>
          </a:xfrm>
          <a:prstGeom prst="rect">
            <a:avLst/>
          </a:prstGeom>
          <a:solidFill>
            <a:srgbClr val="2A2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FE3C1"/>
                </a:solidFill>
                <a:latin typeface="Verdana"/>
              </a:rPr>
              <a:t>АНАЛИТИКА ПЛАТФОРМЫ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CEEF4"/>
                </a:solidFill>
                <a:latin typeface="Verdana"/>
              </a:rPr>
              <a:t>Яндекс Игры — растущий рынок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965960"/>
            <a:ext cx="3611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4FE3C1"/>
                </a:solidFill>
                <a:latin typeface="Verdana"/>
              </a:rPr>
              <a:t>45 млн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17520"/>
            <a:ext cx="3063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активных игроков в месяц (2024)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73736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25112" y="1965960"/>
            <a:ext cx="3611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FF6B5E"/>
                </a:solidFill>
                <a:latin typeface="Verdana"/>
              </a:rPr>
              <a:t>+45 %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9431" y="3017520"/>
            <a:ext cx="3063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рост аудитории за год, в 2024 — почти ×2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73736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7304" y="1965960"/>
            <a:ext cx="3611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4FE3C1"/>
                </a:solidFill>
                <a:latin typeface="Verdana"/>
              </a:rPr>
              <a:t>50 мин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21624" y="3017520"/>
            <a:ext cx="3063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в день играет средний пользователь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43400"/>
            <a:ext cx="11155680" cy="164592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526280"/>
            <a:ext cx="106070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ECEEF4"/>
                </a:solidFill>
                <a:latin typeface="Verdana"/>
              </a:rPr>
              <a:t>Ядро аудитории — до 24 лет: динамичные сессионные игры с прогрессией.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CEEF4"/>
                </a:solidFill>
                <a:latin typeface="Verdana"/>
              </a:rPr>
              <a:t>Тренд — мидкор: глубже кликера, быстрее Steam. Наш формат попадает в обе волны: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4FE3C1"/>
                </a:solidFill>
                <a:latin typeface="Verdana"/>
              </a:rPr>
              <a:t>rogue-lite глубина при загрузке за секунду (вес сборки ≈0,1 МБ).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0A0"/>
                </a:solidFill>
                <a:latin typeface="Verdana"/>
              </a:rPr>
              <a:t>05 — АСТРАЛЬНЫЙ СКИТАЛЕЦ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355080"/>
            <a:ext cx="11183112" cy="12700"/>
          </a:xfrm>
          <a:prstGeom prst="rect">
            <a:avLst/>
          </a:prstGeom>
          <a:solidFill>
            <a:srgbClr val="2A2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FE3C1"/>
                </a:solidFill>
                <a:latin typeface="Verdana"/>
              </a:rPr>
              <a:t>ДЛЯ КОГО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CEEF4"/>
                </a:solidFill>
                <a:latin typeface="Verdana"/>
              </a:rPr>
              <a:t>Целевая аудитория и портрет игрока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91640"/>
            <a:ext cx="5486400" cy="429768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801368"/>
            <a:ext cx="1097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4FE3C1"/>
                </a:solidFill>
                <a:latin typeface="Verdana"/>
              </a:rPr>
              <a:t>B2C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350008"/>
            <a:ext cx="508406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ECEEF4"/>
                </a:solidFill>
                <a:latin typeface="Verdana"/>
              </a:rPr>
              <a:t>Игрок коротких сессий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807208"/>
            <a:ext cx="5084064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12–35 лет, ядро 16–27: студенты и молодые специалисты за ПК.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Опыт: Vampire Survivors, Brotato, Moonlighter — любит «ещё один заход».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Хочет: решения с ценой, прогресс без обнуления, сессию 5–15 минут.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Боится: потерять всё при смерти и потратить время впустую.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91640"/>
            <a:ext cx="5486400" cy="429768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01368"/>
            <a:ext cx="1097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6B5E"/>
                </a:solidFill>
                <a:latin typeface="Verdana"/>
              </a:rPr>
              <a:t>EDU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350008"/>
            <a:ext cx="508406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ECEEF4"/>
                </a:solidFill>
                <a:latin typeface="Verdana"/>
              </a:rPr>
              <a:t>Начинающий разработчик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2807208"/>
            <a:ext cx="5084064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Студенты IT-направлений и инди-разработчики.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Ищут рабочий пример полного цикла: SDK, автопауза, облачные сейвы, лимит веса, модерация.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Получают: открытый репозиторий-референс с кодом, концептом и автотестами.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0A0"/>
                </a:solidFill>
                <a:latin typeface="Verdana"/>
              </a:rPr>
              <a:t>06 — АСТРАЛЬНЫЙ СКИТАЛЕЦ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355080"/>
            <a:ext cx="11183112" cy="12700"/>
          </a:xfrm>
          <a:prstGeom prst="rect">
            <a:avLst/>
          </a:prstGeom>
          <a:solidFill>
            <a:srgbClr val="2A2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FE3C1"/>
                </a:solidFill>
                <a:latin typeface="Verdana"/>
              </a:rPr>
              <a:t>С КЕМ СРАВНИВАЛИ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CEEF4"/>
                </a:solidFill>
                <a:latin typeface="Verdana"/>
              </a:rPr>
              <a:t>Конкурентный анализ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91640"/>
          <a:ext cx="120700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103120"/>
                <a:gridCol w="2103120"/>
                <a:gridCol w="2103120"/>
                <a:gridCol w="2560320"/>
              </a:tblGrid>
              <a:tr h="70104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ECEEF4"/>
                          </a:solidFill>
                          <a:latin typeface="Verdana"/>
                        </a:rPr>
                        <a:t>Критерий</a:t>
                      </a:r>
                    </a:p>
                  </a:txBody>
                  <a:tcPr marL="91440" marT="45720">
                    <a:solidFill>
                      <a:srgbClr val="2326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ECEEF4"/>
                          </a:solidFill>
                          <a:latin typeface="Verdana"/>
                        </a:rPr>
                        <a:t>Vampire Survivors</a:t>
                      </a:r>
                    </a:p>
                  </a:txBody>
                  <a:tcPr marL="91440" marT="45720">
                    <a:solidFill>
                      <a:srgbClr val="2326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ECEEF4"/>
                          </a:solidFill>
                          <a:latin typeface="Verdana"/>
                        </a:rPr>
                        <a:t>Brotato</a:t>
                      </a:r>
                    </a:p>
                  </a:txBody>
                  <a:tcPr marL="91440" marT="45720">
                    <a:solidFill>
                      <a:srgbClr val="2326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ECEEF4"/>
                          </a:solidFill>
                          <a:latin typeface="Verdana"/>
                        </a:rPr>
                        <a:t>Moonlighter</a:t>
                      </a:r>
                    </a:p>
                  </a:txBody>
                  <a:tcPr marL="91440" marT="45720">
                    <a:solidFill>
                      <a:srgbClr val="2326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4FE3C1"/>
                          </a:solidFill>
                          <a:latin typeface="Verdana"/>
                        </a:rPr>
                        <a:t>НАШ ПРОЕКТ</a:t>
                      </a:r>
                    </a:p>
                  </a:txBody>
                  <a:tcPr marL="91440" marT="45720">
                    <a:solidFill>
                      <a:srgbClr val="232633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b="0" sz="1200">
                          <a:solidFill>
                            <a:srgbClr val="8B90A0"/>
                          </a:solidFill>
                          <a:latin typeface="Verdana"/>
                        </a:rPr>
                        <a:t>Видимый риск до решения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>
                          <a:solidFill>
                            <a:srgbClr val="8B90A0"/>
                          </a:solidFill>
                          <a:latin typeface="Verdana"/>
                        </a:rPr>
                        <a:t>Нет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>
                          <a:solidFill>
                            <a:srgbClr val="8B90A0"/>
                          </a:solidFill>
                          <a:latin typeface="Verdana"/>
                        </a:rPr>
                        <a:t>Нет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>
                          <a:solidFill>
                            <a:srgbClr val="8B90A0"/>
                          </a:solidFill>
                          <a:latin typeface="Verdana"/>
                        </a:rPr>
                        <a:t>Частично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4FE3C1"/>
                          </a:solidFill>
                          <a:latin typeface="Verdana"/>
                        </a:rPr>
                        <a:t>Да — на каждом контейнере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b="0" sz="1200">
                          <a:solidFill>
                            <a:srgbClr val="8B90A0"/>
                          </a:solidFill>
                          <a:latin typeface="Verdana"/>
                        </a:rPr>
                        <a:t>Браузер без установки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>
                          <a:solidFill>
                            <a:srgbClr val="8B90A0"/>
                          </a:solidFill>
                          <a:latin typeface="Verdana"/>
                        </a:rPr>
                        <a:t>Нет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>
                          <a:solidFill>
                            <a:srgbClr val="8B90A0"/>
                          </a:solidFill>
                          <a:latin typeface="Verdana"/>
                        </a:rPr>
                        <a:t>Нет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>
                          <a:solidFill>
                            <a:srgbClr val="8B90A0"/>
                          </a:solidFill>
                          <a:latin typeface="Verdana"/>
                        </a:rPr>
                        <a:t>Нет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4FE3C1"/>
                          </a:solidFill>
                          <a:latin typeface="Verdana"/>
                        </a:rPr>
                        <a:t>Да (Яндекс Игры)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b="0" sz="1200">
                          <a:solidFill>
                            <a:srgbClr val="8B90A0"/>
                          </a:solidFill>
                          <a:latin typeface="Verdana"/>
                        </a:rPr>
                        <a:t>Длина сессии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>
                          <a:solidFill>
                            <a:srgbClr val="8B90A0"/>
                          </a:solidFill>
                          <a:latin typeface="Verdana"/>
                        </a:rPr>
                        <a:t>15–30 мин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>
                          <a:solidFill>
                            <a:srgbClr val="8B90A0"/>
                          </a:solidFill>
                          <a:latin typeface="Verdana"/>
                        </a:rPr>
                        <a:t>5–20 мин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>
                          <a:solidFill>
                            <a:srgbClr val="8B90A0"/>
                          </a:solidFill>
                          <a:latin typeface="Verdana"/>
                        </a:rPr>
                        <a:t>30–60 мин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4FE3C1"/>
                          </a:solidFill>
                          <a:latin typeface="Verdana"/>
                        </a:rPr>
                        <a:t>5–15 мин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b="0" sz="1200">
                          <a:solidFill>
                            <a:srgbClr val="8B90A0"/>
                          </a:solidFill>
                          <a:latin typeface="Verdana"/>
                        </a:rPr>
                        <a:t>Вес клиента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>
                          <a:solidFill>
                            <a:srgbClr val="8B90A0"/>
                          </a:solidFill>
                          <a:latin typeface="Verdana"/>
                        </a:rPr>
                        <a:t>≈600 МБ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>
                          <a:solidFill>
                            <a:srgbClr val="8B90A0"/>
                          </a:solidFill>
                          <a:latin typeface="Verdana"/>
                        </a:rPr>
                        <a:t>≈300 МБ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>
                          <a:solidFill>
                            <a:srgbClr val="8B90A0"/>
                          </a:solidFill>
                          <a:latin typeface="Verdana"/>
                        </a:rPr>
                        <a:t>≈1 ГБ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4FE3C1"/>
                          </a:solidFill>
                          <a:latin typeface="Verdana"/>
                        </a:rPr>
                        <a:t>≈0,1 МБ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b="0" sz="1200">
                          <a:solidFill>
                            <a:srgbClr val="8B90A0"/>
                          </a:solidFill>
                          <a:latin typeface="Verdana"/>
                        </a:rPr>
                        <a:t>Сюжет с выбором концовки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>
                          <a:solidFill>
                            <a:srgbClr val="8B90A0"/>
                          </a:solidFill>
                          <a:latin typeface="Verdana"/>
                        </a:rPr>
                        <a:t>Нет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>
                          <a:solidFill>
                            <a:srgbClr val="8B90A0"/>
                          </a:solidFill>
                          <a:latin typeface="Verdana"/>
                        </a:rPr>
                        <a:t>Нет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>
                          <a:solidFill>
                            <a:srgbClr val="8B90A0"/>
                          </a:solidFill>
                          <a:latin typeface="Verdana"/>
                        </a:rPr>
                        <a:t>Линейный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4FE3C1"/>
                          </a:solidFill>
                          <a:latin typeface="Verdana"/>
                        </a:rPr>
                        <a:t>2 концовки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0A0"/>
                </a:solidFill>
                <a:latin typeface="Verdana"/>
              </a:rPr>
              <a:t>07 — АСТРАЛЬНЫЙ СКИТАЛЕЦ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355080"/>
            <a:ext cx="11183112" cy="12700"/>
          </a:xfrm>
          <a:prstGeom prst="rect">
            <a:avLst/>
          </a:prstGeom>
          <a:solidFill>
            <a:srgbClr val="2A2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FE3C1"/>
                </a:solidFill>
                <a:latin typeface="Verdana"/>
              </a:rPr>
              <a:t>КУДА ШЛИ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CEEF4"/>
                </a:solidFill>
                <a:latin typeface="Verdana"/>
              </a:rPr>
              <a:t>Цель и задачи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5120640" cy="443484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74519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6B5E"/>
                </a:solidFill>
                <a:latin typeface="Verdana"/>
              </a:rPr>
              <a:t>SMART-ЦЕЛЬ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31720"/>
            <a:ext cx="457200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CEEF4"/>
                </a:solidFill>
                <a:latin typeface="Verdana"/>
              </a:rPr>
              <a:t>Разработать и подготовить к публикации на Яндекс Играх rogue-lite «Астральный скиталец»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8B90A0"/>
                </a:solidFill>
                <a:latin typeface="Verdana"/>
              </a:rPr>
              <a:t>с механикой осознанного риска, сессией 5–15 минут и полным соответствием регламентам платформы — за 4 недели.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645920"/>
            <a:ext cx="640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4FE3C1"/>
                </a:solidFill>
                <a:latin typeface="Verdan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1709928"/>
            <a:ext cx="4937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ECEEF4"/>
                </a:solidFill>
                <a:latin typeface="Verdana"/>
              </a:rPr>
              <a:t>Анализ ЦА, платформы и конкурентов → УТП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395728"/>
            <a:ext cx="640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4FE3C1"/>
                </a:solidFill>
                <a:latin typeface="Verdan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459736"/>
            <a:ext cx="4937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ECEEF4"/>
                </a:solidFill>
                <a:latin typeface="Verdana"/>
              </a:rPr>
              <a:t>Концепт, сценарий, баланс 5 секторов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145536"/>
            <a:ext cx="640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4FE3C1"/>
                </a:solidFill>
                <a:latin typeface="Verdan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209544"/>
            <a:ext cx="4937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ECEEF4"/>
                </a:solidFill>
                <a:latin typeface="Verdana"/>
              </a:rPr>
              <a:t>MVP на Vanilla JS + Canvas (12 модулей)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895344"/>
            <a:ext cx="640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4FE3C1"/>
                </a:solidFill>
                <a:latin typeface="Verdana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959352"/>
            <a:ext cx="4937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ECEEF4"/>
                </a:solidFill>
                <a:latin typeface="Verdana"/>
              </a:rPr>
              <a:t>Интеграция SDK: автопауза + облачные сейвы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4645152"/>
            <a:ext cx="640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4FE3C1"/>
                </a:solidFill>
                <a:latin typeface="Verdana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4709160"/>
            <a:ext cx="4937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ECEEF4"/>
                </a:solidFill>
                <a:latin typeface="Verdana"/>
              </a:rPr>
              <a:t>3 итерации плейтестов и баланса, 42 автотеста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5394959"/>
            <a:ext cx="640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4FE3C1"/>
                </a:solidFill>
                <a:latin typeface="Verdana"/>
              </a:rP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5458968"/>
            <a:ext cx="4937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ECEEF4"/>
                </a:solidFill>
                <a:latin typeface="Verdana"/>
              </a:rPr>
              <a:t>Сборка по регламентам → модерация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0A0"/>
                </a:solidFill>
                <a:latin typeface="Verdana"/>
              </a:rPr>
              <a:t>08 — АСТРАЛЬНЫЙ СКИТАЛЕЦ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355080"/>
            <a:ext cx="11183112" cy="12700"/>
          </a:xfrm>
          <a:prstGeom prst="rect">
            <a:avLst/>
          </a:prstGeom>
          <a:solidFill>
            <a:srgbClr val="2A2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FE3C1"/>
                </a:solidFill>
                <a:latin typeface="Verdana"/>
              </a:rPr>
              <a:t>КАК ИГРАЕТСЯ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CEEF4"/>
                </a:solidFill>
                <a:latin typeface="Verdana"/>
              </a:rPr>
              <a:t>Петля осознанного риска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11680"/>
            <a:ext cx="2103120" cy="237744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24028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4FE3C1"/>
                </a:solidFill>
                <a:latin typeface="Verdana"/>
              </a:rPr>
              <a:t>РАЗВЕДКА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1828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8B90A0"/>
                </a:solidFill>
                <a:latin typeface="Verdana"/>
              </a:rPr>
              <a:t>сектор, патрули,
контейнеры на карте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06039" y="2971800"/>
            <a:ext cx="237744" cy="365760"/>
          </a:xfrm>
          <a:prstGeom prst="rightArrow">
            <a:avLst/>
          </a:prstGeom>
          <a:solidFill>
            <a:srgbClr val="EC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43784" y="2011680"/>
            <a:ext cx="2103120" cy="237744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43784" y="224028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6B5E"/>
                </a:solidFill>
                <a:latin typeface="Verdana"/>
              </a:rPr>
              <a:t>РЕШЕНИЕ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80944" y="2788920"/>
            <a:ext cx="1828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8B90A0"/>
                </a:solidFill>
                <a:latin typeface="Verdana"/>
              </a:rPr>
              <a:t>шанс охраны виден:
вскрыть или отойти?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946904" y="2971800"/>
            <a:ext cx="237744" cy="365760"/>
          </a:xfrm>
          <a:prstGeom prst="rightArrow">
            <a:avLst/>
          </a:prstGeom>
          <a:solidFill>
            <a:srgbClr val="EC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84648" y="2011680"/>
            <a:ext cx="2103120" cy="237744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84648" y="224028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4FE3C1"/>
                </a:solidFill>
                <a:latin typeface="Verdana"/>
              </a:rPr>
              <a:t>БОЙ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21808" y="2788920"/>
            <a:ext cx="1828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8B90A0"/>
                </a:solidFill>
                <a:latin typeface="Verdana"/>
              </a:rPr>
              <a:t>телеграф атак,
рывок, криты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287768" y="2971800"/>
            <a:ext cx="237744" cy="365760"/>
          </a:xfrm>
          <a:prstGeom prst="rightArrow">
            <a:avLst/>
          </a:prstGeom>
          <a:solidFill>
            <a:srgbClr val="EC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525512" y="2011680"/>
            <a:ext cx="2103120" cy="237744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224028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6B5E"/>
                </a:solidFill>
                <a:latin typeface="Verdana"/>
              </a:rPr>
              <a:t>НАГРАДА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62672" y="2788920"/>
            <a:ext cx="1828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8B90A0"/>
                </a:solidFill>
                <a:latin typeface="Verdana"/>
              </a:rPr>
              <a:t>лут ×1,5 за риск,
синтезатор за лом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628632" y="2971800"/>
            <a:ext cx="237744" cy="365760"/>
          </a:xfrm>
          <a:prstGeom prst="rightArrow">
            <a:avLst/>
          </a:prstGeom>
          <a:solidFill>
            <a:srgbClr val="EC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866376" y="2011680"/>
            <a:ext cx="2103120" cy="237744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66376" y="224028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4FE3C1"/>
                </a:solidFill>
                <a:latin typeface="Verdana"/>
              </a:rPr>
              <a:t>ПРОГРЕСС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03536" y="2788920"/>
            <a:ext cx="1828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8B90A0"/>
                </a:solidFill>
                <a:latin typeface="Verdana"/>
              </a:rPr>
              <a:t>новый сектор,
память и финал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754880"/>
            <a:ext cx="111556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ECEEF4"/>
                </a:solidFill>
                <a:latin typeface="Verdana"/>
              </a:rPr>
              <a:t>Смерть — не конец: rogue-lite сохраняет сектора и оружие, забирая еду и часть лома.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ECEEF4"/>
                </a:solidFill>
                <a:latin typeface="Verdana"/>
              </a:rPr>
              <a:t>Босс — по желанию: вскрой ВСЕ контейнеры 4-го сектора и встреть Стража Ядра.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0A0"/>
                </a:solidFill>
                <a:latin typeface="Verdana"/>
              </a:rPr>
              <a:t>09 — АСТРАЛЬНЫЙ СКИТАЛЕЦ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355080"/>
            <a:ext cx="11183112" cy="12700"/>
          </a:xfrm>
          <a:prstGeom prst="rect">
            <a:avLst/>
          </a:prstGeom>
          <a:solidFill>
            <a:srgbClr val="2A2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FE3C1"/>
                </a:solidFill>
                <a:latin typeface="Verdana"/>
              </a:rPr>
              <a:t>ЧЕМ ОТЛИЧАЕМСЯ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CEEF4"/>
                </a:solidFill>
                <a:latin typeface="Verdana"/>
              </a:rPr>
              <a:t>Уникальность проекта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91640"/>
            <a:ext cx="3611880" cy="205740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856232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FE3C1"/>
                </a:solidFill>
                <a:latin typeface="Verdana"/>
              </a:rPr>
              <a:t>Риск как выбор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377440"/>
            <a:ext cx="3200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шансы охраны видны до вскрытия — никаких «невидимых костей»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691640"/>
            <a:ext cx="3611880" cy="205740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79" y="1856232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6B5E"/>
                </a:solidFill>
                <a:latin typeface="Verdana"/>
              </a:rPr>
              <a:t>Честный бой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79" y="2377440"/>
            <a:ext cx="3200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все атаки телеграфированы: любой урон можно избежать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691640"/>
            <a:ext cx="3611880" cy="205740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8472" y="1856232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FE3C1"/>
                </a:solidFill>
                <a:latin typeface="Verdana"/>
              </a:rPr>
              <a:t>Смерть без злости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48472" y="2377440"/>
            <a:ext cx="3200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rogue-lite: прогресс секторов и оружие не сгорают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931920"/>
            <a:ext cx="3611880" cy="205740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4096512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6B5E"/>
                </a:solidFill>
                <a:latin typeface="Verdana"/>
              </a:rPr>
              <a:t>Сюжет с выбором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4617720"/>
            <a:ext cx="3200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память возвращается по секторам, 2 концовки + ∞ режим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5112" y="3931920"/>
            <a:ext cx="3611880" cy="205740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79" y="4096512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FE3C1"/>
                </a:solidFill>
                <a:latin typeface="Verdana"/>
              </a:rPr>
              <a:t>0,1 МБ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79" y="4617720"/>
            <a:ext cx="3200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графика — Canvas-код, звук — WebAudio-синтез: ноль ассетов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47304" y="3931920"/>
            <a:ext cx="3611880" cy="205740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48472" y="4096512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6B5E"/>
                </a:solidFill>
                <a:latin typeface="Verdana"/>
              </a:rPr>
              <a:t>Платформенно готов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48472" y="4617720"/>
            <a:ext cx="3200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автопауза, облачные сейвы, 12+, адаптив 21:9/16:9/4:3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0A0"/>
                </a:solidFill>
                <a:latin typeface="Verdana"/>
              </a:rPr>
              <a:t>10 — АСТРАЛЬНЫЙ СКИТАЛЕЦ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355080"/>
            <a:ext cx="11183112" cy="12700"/>
          </a:xfrm>
          <a:prstGeom prst="rect">
            <a:avLst/>
          </a:prstGeom>
          <a:solidFill>
            <a:srgbClr val="2A2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FE3C1"/>
                </a:solidFill>
                <a:latin typeface="Verdana"/>
              </a:rPr>
              <a:t>НА ЧЁМ СДЕЛАНО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CEEF4"/>
                </a:solidFill>
                <a:latin typeface="Verdana"/>
              </a:rPr>
              <a:t>Технологический стек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3611880" cy="77724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883664"/>
            <a:ext cx="3611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ECEEF4"/>
                </a:solidFill>
                <a:latin typeface="Verdana"/>
              </a:rPr>
              <a:t>Vanilla JS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737360"/>
            <a:ext cx="3611880" cy="77724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25112" y="1883664"/>
            <a:ext cx="3611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ECEEF4"/>
                </a:solidFill>
                <a:latin typeface="Verdana"/>
              </a:rPr>
              <a:t>Canvas API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47304" y="1737360"/>
            <a:ext cx="3611880" cy="77724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47304" y="1883664"/>
            <a:ext cx="3611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ECEEF4"/>
                </a:solidFill>
                <a:latin typeface="Verdana"/>
              </a:rPr>
              <a:t>Web Audio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97480"/>
            <a:ext cx="3611880" cy="77724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843784"/>
            <a:ext cx="3611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ECEEF4"/>
                </a:solidFill>
                <a:latin typeface="Verdana"/>
              </a:rPr>
              <a:t>Yandex SDK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697480"/>
            <a:ext cx="3611880" cy="77724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5112" y="2843784"/>
            <a:ext cx="3611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ECEEF4"/>
                </a:solidFill>
                <a:latin typeface="Verdana"/>
              </a:rPr>
              <a:t>Git + GitHub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47304" y="2697480"/>
            <a:ext cx="3611880" cy="77724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47304" y="2843784"/>
            <a:ext cx="3611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ECEEF4"/>
                </a:solidFill>
                <a:latin typeface="Verdana"/>
              </a:rPr>
              <a:t>Node-тесты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886200"/>
            <a:ext cx="11155680" cy="214884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069080"/>
            <a:ext cx="1060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6B5E"/>
                </a:solidFill>
                <a:latin typeface="Verdana"/>
              </a:rPr>
              <a:t>Почему без движка?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8B90A0"/>
                </a:solidFill>
                <a:latin typeface="Verdana"/>
              </a:rPr>
              <a:t>Unity-сборка весит десятки мегабайт и прячет платформенные детали. Нативный JS дал сборку ≈0,1 МБ (в 1000 раз меньше лимита), загрузку за секунду и полный контроль над паузой, сейвами и рендером.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4FE3C1"/>
                </a:solidFill>
                <a:latin typeface="Verdana"/>
              </a:rPr>
              <a:t>Качество держат 42 автотеста логики — прогон перед каждым коммитом.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0A0"/>
                </a:solidFill>
                <a:latin typeface="Verdana"/>
              </a:rPr>
              <a:t>11 — АСТРАЛЬНЫЙ СКИТАЛЕЦ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355080"/>
            <a:ext cx="11183112" cy="12700"/>
          </a:xfrm>
          <a:prstGeom prst="rect">
            <a:avLst/>
          </a:prstGeom>
          <a:solidFill>
            <a:srgbClr val="2A2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FE3C1"/>
                </a:solidFill>
                <a:latin typeface="Verdana"/>
              </a:rPr>
              <a:t>СМОТРИМ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CEEF4"/>
                </a:solidFill>
                <a:latin typeface="Verdana"/>
              </a:rPr>
              <a:t>Демонстрация игры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91640"/>
            <a:ext cx="5486400" cy="205740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42316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8B90A0"/>
                </a:solidFill>
                <a:latin typeface="Verdana"/>
              </a:rPr>
              <a:t>[ скриншот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91840"/>
            <a:ext cx="5120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FE3C1"/>
                </a:solidFill>
                <a:latin typeface="Verdana"/>
              </a:rPr>
              <a:t>Игровой экран: сектор и HUD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486400" cy="205740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242316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8B90A0"/>
                </a:solidFill>
                <a:latin typeface="Verdana"/>
              </a:rPr>
              <a:t>[ скриншот 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291840"/>
            <a:ext cx="5120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FE3C1"/>
                </a:solidFill>
                <a:latin typeface="Verdana"/>
              </a:rPr>
              <a:t>Выбор: шанс охраны 58 %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931920"/>
            <a:ext cx="5486400" cy="205740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66344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8B90A0"/>
                </a:solidFill>
                <a:latin typeface="Verdana"/>
              </a:rPr>
              <a:t>[ скриншот 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532120"/>
            <a:ext cx="5120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FE3C1"/>
                </a:solidFill>
                <a:latin typeface="Verdana"/>
              </a:rPr>
              <a:t>Босс: красная зона удара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31920"/>
            <a:ext cx="5486400" cy="205740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466344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8B90A0"/>
                </a:solidFill>
                <a:latin typeface="Verdana"/>
              </a:rPr>
              <a:t>[ скриншот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532120"/>
            <a:ext cx="5120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FE3C1"/>
                </a:solidFill>
                <a:latin typeface="Verdana"/>
              </a:rPr>
              <a:t>Синтезатор и карта секторов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0A0"/>
                </a:solidFill>
                <a:latin typeface="Verdana"/>
              </a:rPr>
              <a:t>12 — АСТРАЛЬНЫЙ СКИТАЛЕЦ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355080"/>
            <a:ext cx="11183112" cy="12700"/>
          </a:xfrm>
          <a:prstGeom prst="rect">
            <a:avLst/>
          </a:prstGeom>
          <a:solidFill>
            <a:srgbClr val="2A2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FE3C1"/>
                </a:solidFill>
                <a:latin typeface="Verdana"/>
              </a:rPr>
              <a:t>ЧТО ПОЛУЧИЛИ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CEEF4"/>
                </a:solidFill>
                <a:latin typeface="Verdana"/>
              </a:rPr>
              <a:t>Результат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FE3C1"/>
                </a:solidFill>
                <a:latin typeface="Verdana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682496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ECEEF4"/>
                </a:solidFill>
                <a:latin typeface="Verdana"/>
              </a:rPr>
              <a:t>MVP «Астральный скиталец»: 5 секторов, босс, 2 концовки, бесконечный режим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128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FE3C1"/>
                </a:solidFill>
                <a:latin typeface="Verdana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249424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ECEEF4"/>
                </a:solidFill>
                <a:latin typeface="Verdana"/>
              </a:rPr>
              <a:t>Полная интеграция Yandex SDK: автопауза, облачные сейвы + localStorage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FE3C1"/>
                </a:solidFill>
                <a:latin typeface="Verdana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816352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ECEEF4"/>
                </a:solidFill>
                <a:latin typeface="Verdana"/>
              </a:rPr>
              <a:t>Сборка ≈0,1 МБ, автономная, проверена в Chrome / Firefox / Safari / 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46704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FE3C1"/>
                </a:solidFill>
                <a:latin typeface="Verdana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38328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ECEEF4"/>
                </a:solidFill>
                <a:latin typeface="Verdana"/>
              </a:rPr>
              <a:t>3 итерации плейтестов: от «слишком легко» до «есть драйв»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91363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FE3C1"/>
                </a:solidFill>
                <a:latin typeface="Verdana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950208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ECEEF4"/>
                </a:solidFill>
                <a:latin typeface="Verdana"/>
              </a:rPr>
              <a:t>Аналитика ЦА и платформы, отчёт, открытый репозиторий на GitHub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80560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6B5E"/>
                </a:solidFill>
                <a:latin typeface="Verdana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517136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8B90A0"/>
                </a:solidFill>
                <a:latin typeface="Verdana"/>
              </a:rPr>
              <a:t>Загрузка в консоль разработчика и прохождение модерации  (в процессе)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474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6B5E"/>
                </a:solidFill>
                <a:latin typeface="Verdana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5084064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8B90A0"/>
                </a:solidFill>
                <a:latin typeface="Verdana"/>
              </a:rPr>
              <a:t>Мобильное управление и лидерборды — после публикации  (в процессе)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4FE3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ECEEF4"/>
                </a:solidFill>
                <a:latin typeface="Verdana"/>
              </a:rPr>
              <a:t>СПАСИБО ЗА ВНИМАНИЕ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8B90A0"/>
                </a:solidFill>
                <a:latin typeface="Verdana"/>
              </a:rPr>
              <a:t>Готовы ответить на вопросы — и показать игру вживую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0624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ECEEF4"/>
                </a:solidFill>
                <a:latin typeface="Verdana"/>
              </a:rPr>
              <a:t>Тимлид — ____________________ РИ-XXXXXX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CEEF4"/>
                </a:solidFill>
                <a:latin typeface="Verdana"/>
              </a:rPr>
              <a:t>Аналитик — ____________________ РИ-XXXXXX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CEEF4"/>
                </a:solidFill>
                <a:latin typeface="Verdana"/>
              </a:rPr>
              <a:t>Дизайнер — ____________________ РИ-XXXXXX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CEEF4"/>
                </a:solidFill>
                <a:latin typeface="Verdana"/>
              </a:rPr>
              <a:t>Фронтенд — ____________________ РИ-XXXXXX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CEEF4"/>
                </a:solidFill>
                <a:latin typeface="Verdana"/>
              </a:rPr>
              <a:t>Бэкенд — ____________________ РИ-XXXXXX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FE3C1"/>
                </a:solidFill>
                <a:latin typeface="Verdana"/>
              </a:rPr>
              <a:t>«Астральный скиталец» · Яндекс Игры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